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members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Monday</c:v>
                  </c:pt>
                  <c:pt idx="1">
                    <c:v>Tuesday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Friday</c:v>
                  </c:pt>
                  <c:pt idx="5">
                    <c:v>Saturday</c:v>
                  </c:pt>
                  <c:pt idx="6">
                    <c:v>Sunday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110430</c:v>
                </c:pt>
                <c:pt idx="1">
                  <c:v>127974</c:v>
                </c:pt>
                <c:pt idx="2">
                  <c:v>121902</c:v>
                </c:pt>
                <c:pt idx="3">
                  <c:v>125228</c:v>
                </c:pt>
                <c:pt idx="4">
                  <c:v>115168</c:v>
                </c:pt>
                <c:pt idx="5">
                  <c:v>59413</c:v>
                </c:pt>
                <c:pt idx="6">
                  <c:v>60197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 riders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Monday</c:v>
                  </c:pt>
                  <c:pt idx="1">
                    <c:v>Tuesday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Friday</c:v>
                  </c:pt>
                  <c:pt idx="5">
                    <c:v>Saturday</c:v>
                  </c:pt>
                  <c:pt idx="6">
                    <c:v>Sunday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5591</c:v>
                </c:pt>
                <c:pt idx="1">
                  <c:v>7311</c:v>
                </c:pt>
                <c:pt idx="2">
                  <c:v>7690</c:v>
                </c:pt>
                <c:pt idx="3">
                  <c:v>7147</c:v>
                </c:pt>
                <c:pt idx="4">
                  <c:v>8013</c:v>
                </c:pt>
                <c:pt idx="5">
                  <c:v>13473</c:v>
                </c:pt>
                <c:pt idx="6">
                  <c:v>18652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members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Monday</c:v>
                  </c:pt>
                  <c:pt idx="1">
                    <c:v>Tuesday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Friday</c:v>
                  </c:pt>
                  <c:pt idx="5">
                    <c:v>Saturday</c:v>
                  </c:pt>
                  <c:pt idx="6">
                    <c:v>Sunday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8.4</c:v>
                </c:pt>
                <c:pt idx="1">
                  <c:v>8.5</c:v>
                </c:pt>
                <c:pt idx="2">
                  <c:v>8.4</c:v>
                </c:pt>
                <c:pt idx="3">
                  <c:v>8.4</c:v>
                </c:pt>
                <c:pt idx="4">
                  <c:v>8.2</c:v>
                </c:pt>
                <c:pt idx="5">
                  <c:v>8.8</c:v>
                </c:pt>
                <c:pt idx="6">
                  <c:v>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 riders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Monday</c:v>
                  </c:pt>
                  <c:pt idx="1">
                    <c:v>Tuesday</c:v>
                  </c:pt>
                  <c:pt idx="2">
                    <c:v>Wednesday</c:v>
                  </c:pt>
                  <c:pt idx="3">
                    <c:v>Thursday</c:v>
                  </c:pt>
                  <c:pt idx="4">
                    <c:v>Friday</c:v>
                  </c:pt>
                  <c:pt idx="5">
                    <c:v>Saturday</c:v>
                  </c:pt>
                  <c:pt idx="6">
                    <c:v>Sunday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19.9</c:v>
                </c:pt>
                <c:pt idx="1">
                  <c:v>19.7</c:v>
                </c:pt>
                <c:pt idx="2">
                  <c:v>23.8</c:v>
                </c:pt>
                <c:pt idx="3">
                  <c:v>20.2</c:v>
                </c:pt>
                <c:pt idx="4">
                  <c:v>20</c:v>
                </c:pt>
                <c:pt idx="5">
                  <c:v>24.2</c:v>
                </c:pt>
                <c:pt idx="6">
                  <c:v>26.8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members</c:v>
                </c:pt>
              </c:strCache>
            </c:strRef>
          </c:tx>
          <c:spPr>
            <a:solidFill>
              <a:srgbClr val="2A78D6"/>
            </a:solidFill>
            <a:ln w="25400" cap="flat">
              <a:solidFill>
                <a:srgbClr val="2A78D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A78D6"/>
              </a:solidFill>
              <a:ln w="9525" cap="flat">
                <a:solidFill>
                  <a:srgbClr val="2A78D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00:00</c:v>
                  </c:pt>
                  <c:pt idx="1">
                    <c:v>01:00</c:v>
                  </c:pt>
                  <c:pt idx="2">
                    <c:v>02:00</c:v>
                  </c:pt>
                  <c:pt idx="3">
                    <c:v>03:00</c:v>
                  </c:pt>
                  <c:pt idx="4">
                    <c:v>04:00</c:v>
                  </c:pt>
                  <c:pt idx="5">
                    <c:v>05:00</c:v>
                  </c:pt>
                  <c:pt idx="6">
                    <c:v>06:00</c:v>
                  </c:pt>
                  <c:pt idx="7">
                    <c:v>07:00</c:v>
                  </c:pt>
                  <c:pt idx="8">
                    <c:v>08:00</c:v>
                  </c:pt>
                  <c:pt idx="9">
                    <c:v>09:00</c:v>
                  </c:pt>
                  <c:pt idx="10">
                    <c:v>10:00</c:v>
                  </c:pt>
                  <c:pt idx="11">
                    <c:v>11:00</c:v>
                  </c:pt>
                  <c:pt idx="12">
                    <c:v>12:00</c:v>
                  </c:pt>
                  <c:pt idx="13">
                    <c:v>13:00</c:v>
                  </c:pt>
                  <c:pt idx="14">
                    <c:v>14:00</c:v>
                  </c:pt>
                  <c:pt idx="15">
                    <c:v>15:00</c:v>
                  </c:pt>
                  <c:pt idx="16">
                    <c:v>16:00</c:v>
                  </c:pt>
                  <c:pt idx="17">
                    <c:v>17:00</c:v>
                  </c:pt>
                  <c:pt idx="18">
                    <c:v>18:00</c:v>
                  </c:pt>
                  <c:pt idx="19">
                    <c:v>19:00</c:v>
                  </c:pt>
                  <c:pt idx="20">
                    <c:v>20:00</c:v>
                  </c:pt>
                  <c:pt idx="21">
                    <c:v>21:00</c:v>
                  </c:pt>
                  <c:pt idx="22">
                    <c:v>22:00</c:v>
                  </c:pt>
                  <c:pt idx="23">
                    <c:v>23:00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0.3</c:v>
                </c:pt>
                <c:pt idx="1">
                  <c:v>0.1</c:v>
                </c:pt>
                <c:pt idx="2">
                  <c:v>0.1</c:v>
                </c:pt>
                <c:pt idx="3">
                  <c:v>0.1</c:v>
                </c:pt>
                <c:pt idx="4">
                  <c:v>0.3</c:v>
                </c:pt>
                <c:pt idx="5">
                  <c:v>1.4</c:v>
                </c:pt>
                <c:pt idx="6">
                  <c:v>4.4</c:v>
                </c:pt>
                <c:pt idx="7">
                  <c:v>9.3</c:v>
                </c:pt>
                <c:pt idx="8">
                  <c:v>12.3</c:v>
                </c:pt>
                <c:pt idx="9">
                  <c:v>4.9</c:v>
                </c:pt>
                <c:pt idx="10">
                  <c:v>2.6</c:v>
                </c:pt>
                <c:pt idx="11">
                  <c:v>3.2</c:v>
                </c:pt>
                <c:pt idx="12">
                  <c:v>3.8</c:v>
                </c:pt>
                <c:pt idx="13">
                  <c:v>3.6</c:v>
                </c:pt>
                <c:pt idx="14">
                  <c:v>3.5</c:v>
                </c:pt>
                <c:pt idx="15">
                  <c:v>5.4</c:v>
                </c:pt>
                <c:pt idx="16">
                  <c:v>11.1</c:v>
                </c:pt>
                <c:pt idx="17">
                  <c:v>14.6</c:v>
                </c:pt>
                <c:pt idx="18">
                  <c:v>8.2</c:v>
                </c:pt>
                <c:pt idx="19">
                  <c:v>4.6</c:v>
                </c:pt>
                <c:pt idx="20">
                  <c:v>2.7</c:v>
                </c:pt>
                <c:pt idx="21">
                  <c:v>1.8</c:v>
                </c:pt>
                <c:pt idx="22">
                  <c:v>1</c:v>
                </c:pt>
                <c:pt idx="23">
                  <c:v>0.6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Casual riders</c:v>
                </c:pt>
              </c:strCache>
            </c:strRef>
          </c:tx>
          <c:spPr>
            <a:solidFill>
              <a:srgbClr val="EB6834"/>
            </a:solidFill>
            <a:ln w="254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00:00</c:v>
                  </c:pt>
                  <c:pt idx="1">
                    <c:v>01:00</c:v>
                  </c:pt>
                  <c:pt idx="2">
                    <c:v>02:00</c:v>
                  </c:pt>
                  <c:pt idx="3">
                    <c:v>03:00</c:v>
                  </c:pt>
                  <c:pt idx="4">
                    <c:v>04:00</c:v>
                  </c:pt>
                  <c:pt idx="5">
                    <c:v>05:00</c:v>
                  </c:pt>
                  <c:pt idx="6">
                    <c:v>06:00</c:v>
                  </c:pt>
                  <c:pt idx="7">
                    <c:v>07:00</c:v>
                  </c:pt>
                  <c:pt idx="8">
                    <c:v>08:00</c:v>
                  </c:pt>
                  <c:pt idx="9">
                    <c:v>09:00</c:v>
                  </c:pt>
                  <c:pt idx="10">
                    <c:v>10:00</c:v>
                  </c:pt>
                  <c:pt idx="11">
                    <c:v>11:00</c:v>
                  </c:pt>
                  <c:pt idx="12">
                    <c:v>12:00</c:v>
                  </c:pt>
                  <c:pt idx="13">
                    <c:v>13:00</c:v>
                  </c:pt>
                  <c:pt idx="14">
                    <c:v>14:00</c:v>
                  </c:pt>
                  <c:pt idx="15">
                    <c:v>15:00</c:v>
                  </c:pt>
                  <c:pt idx="16">
                    <c:v>16:00</c:v>
                  </c:pt>
                  <c:pt idx="17">
                    <c:v>17:00</c:v>
                  </c:pt>
                  <c:pt idx="18">
                    <c:v>18:00</c:v>
                  </c:pt>
                  <c:pt idx="19">
                    <c:v>19:00</c:v>
                  </c:pt>
                  <c:pt idx="20">
                    <c:v>20:00</c:v>
                  </c:pt>
                  <c:pt idx="21">
                    <c:v>21:00</c:v>
                  </c:pt>
                  <c:pt idx="22">
                    <c:v>22:00</c:v>
                  </c:pt>
                  <c:pt idx="23">
                    <c:v>23:00</c:v>
                  </c:pt>
                </c:lvl>
              </c:multiLvlStrCache>
            </c:multiLvl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0.7</c:v>
                </c:pt>
                <c:pt idx="1">
                  <c:v>0.5</c:v>
                </c:pt>
                <c:pt idx="2">
                  <c:v>0.3</c:v>
                </c:pt>
                <c:pt idx="3">
                  <c:v>0.2</c:v>
                </c:pt>
                <c:pt idx="4">
                  <c:v>0.2</c:v>
                </c:pt>
                <c:pt idx="5">
                  <c:v>0.4</c:v>
                </c:pt>
                <c:pt idx="6">
                  <c:v>1.2</c:v>
                </c:pt>
                <c:pt idx="7">
                  <c:v>2.4</c:v>
                </c:pt>
                <c:pt idx="8">
                  <c:v>4.1</c:v>
                </c:pt>
                <c:pt idx="9">
                  <c:v>3.2</c:v>
                </c:pt>
                <c:pt idx="10">
                  <c:v>3.8</c:v>
                </c:pt>
                <c:pt idx="11">
                  <c:v>5.7</c:v>
                </c:pt>
                <c:pt idx="12">
                  <c:v>6.9</c:v>
                </c:pt>
                <c:pt idx="13">
                  <c:v>8.3</c:v>
                </c:pt>
                <c:pt idx="14">
                  <c:v>8.6</c:v>
                </c:pt>
                <c:pt idx="15">
                  <c:v>9.9</c:v>
                </c:pt>
                <c:pt idx="16">
                  <c:v>11.3</c:v>
                </c:pt>
                <c:pt idx="17">
                  <c:v>12.2</c:v>
                </c:pt>
                <c:pt idx="18">
                  <c:v>7.7</c:v>
                </c:pt>
                <c:pt idx="19">
                  <c:v>4.5</c:v>
                </c:pt>
                <c:pt idx="20">
                  <c:v>2.8</c:v>
                </c:pt>
                <c:pt idx="21">
                  <c:v>2.4</c:v>
                </c:pt>
                <c:pt idx="22">
                  <c:v>1.7</c:v>
                </c:pt>
                <c:pt idx="23">
                  <c:v>1.1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5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F293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 rides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Lake Shore Dr &amp; North Blvd</c:v>
                  </c:pt>
                  <c:pt idx="1">
                    <c:v>Theater on the Lake</c:v>
                  </c:pt>
                  <c:pt idx="2">
                    <c:v>Adler Planetarium</c:v>
                  </c:pt>
                  <c:pt idx="3">
                    <c:v>Dusable Harbor</c:v>
                  </c:pt>
                  <c:pt idx="4">
                    <c:v>Michigan Ave &amp; Washington St</c:v>
                  </c:pt>
                  <c:pt idx="5">
                    <c:v>Michigan Ave &amp; Oak St</c:v>
                  </c:pt>
                  <c:pt idx="6">
                    <c:v>Millennium Park</c:v>
                  </c:pt>
                  <c:pt idx="7">
                    <c:v>Shedd Aquarium</c:v>
                  </c:pt>
                  <c:pt idx="8">
                    <c:v>Lake Shore Dr &amp; Monroe St</c:v>
                  </c:pt>
                  <c:pt idx="9">
                    <c:v>Streeter Dr &amp; Grand Ave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606</c:v>
                </c:pt>
                <c:pt idx="1">
                  <c:v>795</c:v>
                </c:pt>
                <c:pt idx="2">
                  <c:v>827</c:v>
                </c:pt>
                <c:pt idx="3">
                  <c:v>832</c:v>
                </c:pt>
                <c:pt idx="4">
                  <c:v>839</c:v>
                </c:pt>
                <c:pt idx="5">
                  <c:v>1017</c:v>
                </c:pt>
                <c:pt idx="6">
                  <c:v>1406</c:v>
                </c:pt>
                <c:pt idx="7">
                  <c:v>1832</c:v>
                </c:pt>
                <c:pt idx="8">
                  <c:v>2732</c:v>
                </c:pt>
                <c:pt idx="9">
                  <c:v>2749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6E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Medians are used for ride length because a small number of very long casual rides pull the mean up to 89.5 minutes (members: 13.3).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C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Cyclistic bike-share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annual members and casual riders use bikes differently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Data Analytics Certificate capstone case study · Public Divvy (Chicago) trip data, Q1 2019 and Q1 2020 · Cyclistic is a fictional company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Chinua Eric Robinson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 and the data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wants to convert casual riders into annual members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task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how members and casual riders use the bikes differently, to guide a campaign that converts casual riders.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steps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the 2019 columns to the 2020 schema and combined both quarters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Recoded Subscriber/Customer to member/casual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ride length (Chicago time), weekday and start hour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rides from HQ QR (bikes taken out for quality checks); this also removed every zero or negative ride length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32588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52160" y="139903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791,956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852160" y="18928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trips, two quarters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242316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52160" y="249631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3,767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2990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(HQ QR test rides)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3520440"/>
            <a:ext cx="3017520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35935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788,189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5852160" y="40873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analysed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Divvy trip data, Q1 2019 and Q1 2020 (788,189 rides after cleaning). Analysis: analysis/cyclistic_analysis.R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numbers that frame the gap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rides were taken by annual members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3258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23.2 vs 8.5 min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2057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ride: casual riders vs members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08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840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ride time came from casual riders, from 9% of rides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92608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3108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47% vs 17%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8404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rides on weekends: casual riders vs members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Divvy trip data, Q1 2019 and Q1 2020 (788,189 rides after cleaning). Analysis: analysis/cyclistic_analysis.R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 ride far more, mostly on weekdays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by day of week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8229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Divvy trip data, Q1 2019 and Q1 2020 (788,189 rides after cleaning). Analysis: analysis/cyclistic_analysis.R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Casual riders take longer rides every day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ride length in minutes, by day of week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8229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Divvy trip data, Q1 2019 and Q1 2020 (788,189 rides after cleaning). Analysis: analysis/cyclistic_analysis.R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weekday rides peak at 8 AM and 5 PM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each group's weekday rides, by start hour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8229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Divvy trip data, Q1 2019 and Q1 2020 (788,189 rides after cleaning). Analysis: analysis/cyclistic_analysis.R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Casual riders start at the lakefront and attractions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start stations by casual rides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80160"/>
          <a:ext cx="8229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Divvy trip data, Q1 2019 and Q1 2020 (788,189 rides after cleaning). Analysis: analysis/cyclistic_analysis.R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follows from a pattern in the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leisure, not commuting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of casual rides fall on weekends and their median ride is 23.2 min. Pitch membership around weekend and longer leisure rides.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55448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where casual riders start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7889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 casual start stations are lakefront and attraction sites. Put membership offers on the dock screens and in the app at those stations.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2588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554480"/>
            <a:ext cx="457200" cy="457200"/>
          </a:xfrm>
          <a:prstGeom prst="ellipse">
            <a:avLst/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when casual riding is high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27889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rides nearly doubled from Q1 2019 to Q1 2020, but Q1 is winter. Confirm the seasonal peak with full-year data before timing the campaign.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Divvy trip data, Q1 2019 and Q1 2020 (788,189 rides after cleaning). Analysis: analysis/cyclistic_analysis.R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and next steps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winter quarters only; summer patterns may differ. Next: rerun the script on 12 months of data.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rider IDs, so repeat casual riders can't be identified or counted.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pricing data, so savings from membership can't be quantified here.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6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in this deck comes from analysis/cyclistic_analysis.R and the tables in outputs/.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Case Study</dc:title>
  <dc:subject>PptxGenJS Presentation</dc:subject>
  <dc:creator>Chinua Eric Robinson</dc:creator>
  <cp:lastModifiedBy>Chinua Eric Robinson</cp:lastModifiedBy>
  <cp:revision>1</cp:revision>
  <dcterms:created xsi:type="dcterms:W3CDTF">2026-09-24T02:31:58Z</dcterms:created>
  <dcterms:modified xsi:type="dcterms:W3CDTF">2026-09-24T02:31:58Z</dcterms:modified>
</cp:coreProperties>
</file>